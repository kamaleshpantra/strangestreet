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E1E28"/>
                </a:solidFill>
              </a:defRPr>
            </a:pPr>
            <a:r>
              <a:t>ML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505064"/>
                </a:solidFill>
              </a:defRPr>
            </a:pPr>
            <a:r>
              <a:t>Batch intelligence layer: graph + collaborative filtering + semantic features</a:t>
            </a:r>
            <a:br/>
            <a:r>
              <a:t>Precomputed scores for fast feeds, discovery, zones, and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Problem Does It Solve?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Traditional social feeds favor people you already know — cold start for new interests &amp; cities</a:t>
            </a:r>
          </a:p>
          <a:p>
            <a:pPr>
              <a:spcAft>
                <a:spcPts val="1000"/>
              </a:spcAft>
              <a:defRPr sz="2000"/>
            </a:pPr>
            <a:r>
              <a:t>Users need: relevant posts, stranger discovery, communities (zones), and safe experiences</a:t>
            </a:r>
          </a:p>
          <a:p>
            <a:pPr>
              <a:spcAft>
                <a:spcPts val="1000"/>
              </a:spcAft>
              <a:defRPr sz="2000"/>
            </a:pPr>
            <a:r>
              <a:t>Challenge: rich personalization is expensive if computed on every page load</a:t>
            </a:r>
          </a:p>
          <a:p>
            <a:pPr>
              <a:spcAft>
                <a:spcPts val="1000"/>
              </a:spcAft>
              <a:defRPr sz="2000"/>
            </a:pPr>
            <a:r>
              <a:t>Solution: separate heavy ML into a pipeline; API serves precomputed scores (low latency)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Application vs ML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B4283C"/>
                </a:solidFill>
              </a:defRPr>
            </a:pPr>
            <a:r>
              <a:t>Core product (FastAPI + DB)</a:t>
            </a:r>
          </a:p>
          <a:p>
            <a:pPr>
              <a:spcAft>
                <a:spcPts val="600"/>
              </a:spcAft>
              <a:defRPr sz="1600"/>
            </a:pPr>
            <a:r>
              <a:t>Auth, posts, comments, follows</a:t>
            </a:r>
          </a:p>
          <a:p>
            <a:pPr>
              <a:spcAft>
                <a:spcPts val="600"/>
              </a:spcAft>
              <a:defRPr sz="1600"/>
            </a:pPr>
            <a:r>
              <a:t>Zones, messages, connections</a:t>
            </a:r>
          </a:p>
          <a:p>
            <a:pPr>
              <a:spcAft>
                <a:spcPts val="600"/>
              </a:spcAft>
              <a:defRPr sz="1600"/>
            </a:pPr>
            <a:r>
              <a:t>Stores InteractionLog events</a:t>
            </a:r>
          </a:p>
          <a:p>
            <a:pPr>
              <a:spcAft>
                <a:spcPts val="600"/>
              </a:spcAft>
              <a:defRPr sz="1600"/>
            </a:pPr>
            <a:r>
              <a:t>Reads FeedScore, PeopleScore, ZoneScore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B4283C"/>
                </a:solidFill>
              </a:defRPr>
            </a:pPr>
            <a:r>
              <a:t>ML intelligence (batch pipeline)</a:t>
            </a:r>
          </a:p>
          <a:p>
            <a:pPr>
              <a:spcAft>
                <a:spcPts val="600"/>
              </a:spcAft>
              <a:defRPr sz="1600"/>
            </a:pPr>
            <a:r>
              <a:t>Graph: influence &amp; communities</a:t>
            </a:r>
          </a:p>
          <a:p>
            <a:pPr>
              <a:spcAft>
                <a:spcPts val="600"/>
              </a:spcAft>
              <a:defRPr sz="1600"/>
            </a:pPr>
            <a:r>
              <a:t>Features: text / interest vectors</a:t>
            </a:r>
          </a:p>
          <a:p>
            <a:pPr>
              <a:spcAft>
                <a:spcPts val="600"/>
              </a:spcAft>
              <a:defRPr sz="1600"/>
            </a:pPr>
            <a:r>
              <a:t>Recommend: feed, people, zones</a:t>
            </a:r>
          </a:p>
          <a:p>
            <a:pPr>
              <a:spcAft>
                <a:spcPts val="600"/>
              </a:spcAft>
              <a:defRPr sz="1600"/>
            </a:pPr>
            <a:r>
              <a:t>Safety: toxicity heuristics</a:t>
            </a:r>
          </a:p>
          <a:p>
            <a:pPr>
              <a:spcAft>
                <a:spcPts val="600"/>
              </a:spcAft>
              <a:defRPr sz="1600"/>
            </a:pPr>
            <a:r>
              <a:t>Evaluation: offline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Data plane: PostgreSQL — users, posts, follows, interaction logs, ML cache tables</a:t>
            </a:r>
          </a:p>
          <a:p>
            <a:pPr>
              <a:spcAft>
                <a:spcPts val="1000"/>
              </a:spcAft>
              <a:defRPr sz="2000"/>
            </a:pPr>
            <a:r>
              <a:t>Batch job: ml/run_pipeline.py (or cron on Render) runs on a schedule</a:t>
            </a:r>
          </a:p>
          <a:p>
            <a:pPr>
              <a:spcAft>
                <a:spcPts val="1000"/>
              </a:spcAft>
              <a:defRPr sz="2000"/>
            </a:pPr>
            <a:r>
              <a:t>Flow: raw events → feature store → scoring tables → fast SELECT at request time</a:t>
            </a:r>
          </a:p>
          <a:p>
            <a:pPr>
              <a:spcAft>
                <a:spcPts val="1000"/>
              </a:spcAft>
              <a:defRPr sz="2000"/>
            </a:pPr>
            <a:r>
              <a:t>Optional: APScheduler inside web process (daily) + external cron (hourly) for scale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Signals the System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Social graph: who follows whom (directed edges)</a:t>
            </a:r>
          </a:p>
          <a:p>
            <a:pPr>
              <a:spcAft>
                <a:spcPts val="1000"/>
              </a:spcAft>
              <a:defRPr sz="2000"/>
            </a:pPr>
            <a:r>
              <a:t>Implicit feedback: views, likes, comments, skips — weighted in InteractionLog</a:t>
            </a:r>
          </a:p>
          <a:p>
            <a:pPr>
              <a:spcAft>
                <a:spcPts val="1000"/>
              </a:spcAft>
              <a:defRPr sz="2000"/>
            </a:pPr>
            <a:r>
              <a:t>Explicit interests: user ↔ interest tags</a:t>
            </a:r>
          </a:p>
          <a:p>
            <a:pPr>
              <a:spcAft>
                <a:spcPts val="1000"/>
              </a:spcAft>
              <a:defRPr sz="2000"/>
            </a:pPr>
            <a:r>
              <a:t>Text: post content → embeddings (Sentence-BERT in production)</a:t>
            </a:r>
          </a:p>
          <a:p>
            <a:pPr>
              <a:spcAft>
                <a:spcPts val="1000"/>
              </a:spcAft>
              <a:defRPr sz="2000"/>
            </a:pPr>
            <a:r>
              <a:t>Zones: memberships and posts-in-zone for community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Pipeline — Seven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1. Graph engine — PageRank, Louvain communities, friend-of-friend, sparse interest hints</a:t>
            </a:r>
          </a:p>
          <a:p>
            <a:pPr>
              <a:spcAft>
                <a:spcPts val="1000"/>
              </a:spcAft>
              <a:defRPr sz="2000"/>
            </a:pPr>
            <a:r>
              <a:t>2. Feature engine — post &amp; user semantic vectors; TruncatedSVD on interest matrix</a:t>
            </a:r>
          </a:p>
          <a:p>
            <a:pPr>
              <a:spcAft>
                <a:spcPts val="1000"/>
              </a:spcAft>
              <a:defRPr sz="2000"/>
            </a:pPr>
            <a:r>
              <a:t>3. Feed recommender — TruncatedSVD on user×post interactions + recency + semantic re-rank</a:t>
            </a:r>
          </a:p>
          <a:p>
            <a:pPr>
              <a:spcAft>
                <a:spcPts val="1000"/>
              </a:spcAft>
              <a:defRPr sz="2000"/>
            </a:pPr>
            <a:r>
              <a:t>4. People recommender — blend FoF, PageRank, community, Jaccard interests, topic cosine</a:t>
            </a:r>
          </a:p>
          <a:p>
            <a:pPr>
              <a:spcAft>
                <a:spcPts val="1000"/>
              </a:spcAft>
              <a:defRPr sz="2000"/>
            </a:pPr>
            <a:r>
              <a:t>5. Zone recommender — interest + semantic centroid + member/community overlap + activity</a:t>
            </a:r>
          </a:p>
          <a:p>
            <a:pPr>
              <a:spcAft>
                <a:spcPts val="1000"/>
              </a:spcAft>
              <a:defRPr sz="2000"/>
            </a:pPr>
            <a:r>
              <a:t>6. Safety — regex / keyword toxicity &amp; spam scoring; flags + feed filtering</a:t>
            </a:r>
          </a:p>
          <a:p>
            <a:pPr>
              <a:spcAft>
                <a:spcPts val="1000"/>
              </a:spcAft>
              <a:defRPr sz="2000"/>
            </a:pPr>
            <a:r>
              <a:t>7. Evaluation — Precision@K, catalog coverage, category diversity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Intelligence (Social Network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PageRank: estimates influence in the follow graph (who is structurally central)</a:t>
            </a:r>
          </a:p>
          <a:p>
            <a:pPr>
              <a:spcAft>
                <a:spcPts val="1000"/>
              </a:spcAft>
              <a:defRPr sz="2000"/>
            </a:pPr>
            <a:r>
              <a:t>Louvain: finds organic clusters — users who densely follow each other</a:t>
            </a:r>
          </a:p>
          <a:p>
            <a:pPr>
              <a:spcAft>
                <a:spcPts val="1000"/>
              </a:spcAft>
              <a:defRPr sz="2000"/>
            </a:pPr>
            <a:r>
              <a:t>Friend-of-friend: 2-hop suggestions — “people near you” without direct follow</a:t>
            </a:r>
          </a:p>
          <a:p>
            <a:pPr>
              <a:spcAft>
                <a:spcPts val="1000"/>
              </a:spcAft>
              <a:defRPr sz="2000"/>
            </a:pPr>
            <a:r>
              <a:t>Used for: boosting content, people suggestions, zone affinity via community overlap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&amp; Interest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Post embedding: sentence transformer (e.g. all-MiniLM-L6-v2) → dense vector per post</a:t>
            </a:r>
          </a:p>
          <a:p>
            <a:pPr>
              <a:spcAft>
                <a:spcPts val="1000"/>
              </a:spcAft>
              <a:defRPr sz="2000"/>
            </a:pPr>
            <a:r>
              <a:t>User profile vector: average of embeddings of posts they authored (writing style/topics)</a:t>
            </a:r>
          </a:p>
          <a:p>
            <a:pPr>
              <a:spcAft>
                <a:spcPts val="1000"/>
              </a:spcAft>
              <a:defRPr sz="2000"/>
            </a:pPr>
            <a:r>
              <a:t>Interest SVD: binary user×interest matrix compressed — smooth similarity in tag space</a:t>
            </a:r>
          </a:p>
          <a:p>
            <a:pPr>
              <a:spcAft>
                <a:spcPts val="1000"/>
              </a:spcAft>
              <a:defRPr sz="2000"/>
            </a:pPr>
            <a:r>
              <a:t>Why: combine “what you write” with “what tags you picked” for richer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Feed — Collaborative Filtering + Re-ranking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Build sparse matrix: users × posts, cell = sum of interaction weights</a:t>
            </a:r>
          </a:p>
          <a:p>
            <a:pPr>
              <a:spcAft>
                <a:spcPts val="1000"/>
              </a:spcAft>
              <a:defRPr sz="2000"/>
            </a:pPr>
            <a:r>
              <a:t>TruncatedSVD (matrix factorization): latent “taste” factors for users and posts</a:t>
            </a:r>
          </a:p>
          <a:p>
            <a:pPr>
              <a:spcAft>
                <a:spcPts val="1000"/>
              </a:spcAft>
              <a:defRPr sz="2000"/>
            </a:pPr>
            <a:r>
              <a:t>Score ≈ dot product of factors; blend with recency (fresh content)</a:t>
            </a:r>
          </a:p>
          <a:p>
            <a:pPr>
              <a:spcAft>
                <a:spcPts val="1000"/>
              </a:spcAft>
              <a:defRPr sz="2000"/>
            </a:pPr>
            <a:r>
              <a:t>Stage 2: re-rank with topic similarity + graph signals; cap posts per author (diversity)</a:t>
            </a:r>
          </a:p>
          <a:p>
            <a:pPr>
              <a:spcAft>
                <a:spcPts val="1000"/>
              </a:spcAft>
              <a:defRPr sz="2000"/>
            </a:pPr>
            <a:r>
              <a:t>Cold start: popular posts for users with no scores yet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— People &amp;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People: weighted score — FoF, target PageRank, same community, Jaccard on interests, cosine on embeddings</a:t>
            </a:r>
          </a:p>
          <a:p>
            <a:pPr>
              <a:spcAft>
                <a:spcPts val="1000"/>
              </a:spcAft>
              <a:defRPr sz="2000"/>
            </a:pPr>
            <a:r>
              <a:t>Explainability: PeopleScore stores a JSON breakdown per candidate</a:t>
            </a:r>
          </a:p>
          <a:p>
            <a:pPr>
              <a:spcAft>
                <a:spcPts val="1000"/>
              </a:spcAft>
              <a:defRPr sz="2000"/>
            </a:pPr>
            <a:r>
              <a:t>Zones: match user to community via interest overlap, semantic centroid of members, activity level</a:t>
            </a:r>
          </a:p>
          <a:p>
            <a:pPr>
              <a:spcAft>
                <a:spcPts val="1000"/>
              </a:spcAft>
              <a:defRPr sz="2000"/>
            </a:pPr>
            <a:r>
              <a:t>Aligns product goal: “strangers first” via interests, not only existing friends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Layer (Moderation v1)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Heuristic toxicity &amp; spam patterns (regex) → score 0–1; threshold flags posts</a:t>
            </a:r>
          </a:p>
          <a:p>
            <a:pPr>
              <a:spcAft>
                <a:spcPts val="1000"/>
              </a:spcAft>
              <a:defRPr sz="2000"/>
            </a:pPr>
            <a:r>
              <a:t>Updates PostFeature.toxicity_score; high-toxic posts filtered from ML-ranked feed</a:t>
            </a:r>
          </a:p>
          <a:p>
            <a:pPr>
              <a:spcAft>
                <a:spcPts val="1000"/>
              </a:spcAft>
              <a:defRPr sz="2000"/>
            </a:pPr>
            <a:r>
              <a:t>Author caps in feed scores reduce dominance by one creator</a:t>
            </a:r>
          </a:p>
          <a:p>
            <a:pPr>
              <a:spcAft>
                <a:spcPts val="1000"/>
              </a:spcAft>
              <a:defRPr sz="2000"/>
            </a:pPr>
            <a:r>
              <a:t>Roadmap note: can swap heuristics for a trained classifier (e.g. Jigsaw-style)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Evaluation (Sanity Checks)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Precision@K: top-K feed vs posts user actually liked/commented (historical proxy)</a:t>
            </a:r>
          </a:p>
          <a:p>
            <a:pPr>
              <a:spcAft>
                <a:spcPts val="1000"/>
              </a:spcAft>
              <a:defRPr sz="2000"/>
            </a:pPr>
            <a:r>
              <a:t>Coverage: fraction of catalog that appears in recommendations (exploration)</a:t>
            </a:r>
          </a:p>
          <a:p>
            <a:pPr>
              <a:spcAft>
                <a:spcPts val="1000"/>
              </a:spcAft>
              <a:defRPr sz="2000"/>
            </a:pPr>
            <a:r>
              <a:t>Diversity: spread of categories in recommended sets</a:t>
            </a:r>
          </a:p>
          <a:p>
            <a:pPr>
              <a:spcAft>
                <a:spcPts val="1000"/>
              </a:spcAft>
              <a:defRPr sz="2000"/>
            </a:pPr>
            <a:r>
              <a:t>Use: compare pipeline versions — not a substitute for A/B tests with real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Production stack: FastAPI, PostgreSQL (e.g. Neon), optional Cloudinary for media</a:t>
            </a:r>
          </a:p>
          <a:p>
            <a:pPr>
              <a:spcAft>
                <a:spcPts val="1000"/>
              </a:spcAft>
              <a:defRPr sz="2000"/>
            </a:pPr>
            <a:r>
              <a:t>Gunicorn + Uvicorn workers for the API; ML as separate cron/worker job recommended at scale</a:t>
            </a:r>
          </a:p>
          <a:p>
            <a:pPr>
              <a:spcAft>
                <a:spcPts val="1000"/>
              </a:spcAft>
              <a:defRPr sz="2000"/>
            </a:pPr>
            <a:r>
              <a:t>Render blueprint: web service + scheduled job running ml/run_pipeline.py</a:t>
            </a:r>
          </a:p>
          <a:p>
            <a:pPr>
              <a:spcAft>
                <a:spcPts val="1000"/>
              </a:spcAft>
              <a:defRPr sz="2000"/>
            </a:pPr>
            <a:r>
              <a:t>Disk / DB persistence for JSON-like score tables — same pattern as simulation, but durable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In-Memory Simulation (ml/simulate_pipeline_demo.py)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Generates toy or large synthetic social data — no database required</a:t>
            </a:r>
          </a:p>
          <a:p>
            <a:pPr>
              <a:spcAft>
                <a:spcPts val="1000"/>
              </a:spcAft>
              <a:defRPr sz="2000"/>
            </a:pPr>
            <a:r>
              <a:t>Prints embeddings, factors, scores, and metrics for learning and debugging</a:t>
            </a:r>
          </a:p>
          <a:p>
            <a:pPr>
              <a:spcAft>
                <a:spcPts val="1000"/>
              </a:spcAft>
              <a:defRPr sz="2000"/>
            </a:pPr>
            <a:r>
              <a:t>Flags: --large, --users/--posts/--interactions, --verbose for full trace</a:t>
            </a:r>
          </a:p>
          <a:p>
            <a:pPr>
              <a:spcAft>
                <a:spcPts val="1000"/>
              </a:spcAft>
              <a:defRPr sz="2000"/>
            </a:pPr>
            <a:r>
              <a:t>Educational mirror of production logic — not wired to live traffic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Treat ML as a subsystem: ingest events → batch compute → serve scores</a:t>
            </a:r>
          </a:p>
          <a:p>
            <a:pPr>
              <a:spcAft>
                <a:spcPts val="1000"/>
              </a:spcAft>
              <a:defRPr sz="2000"/>
            </a:pPr>
            <a:r>
              <a:t>Blend graph structure, behavior (CF), and semantics for social products</a:t>
            </a:r>
          </a:p>
          <a:p>
            <a:pPr>
              <a:spcAft>
                <a:spcPts val="1000"/>
              </a:spcAft>
              <a:defRPr sz="2000"/>
            </a:pPr>
            <a:r>
              <a:t>Precompute for speed; explain partial scores where possible (people breakdown)</a:t>
            </a:r>
          </a:p>
          <a:p>
            <a:pPr>
              <a:spcAft>
                <a:spcPts val="1000"/>
              </a:spcAft>
              <a:defRPr sz="2000"/>
            </a:pPr>
            <a:r>
              <a:t>Safety and diversity are first-class outputs, not afterthoughts</a:t>
            </a:r>
          </a:p>
          <a:p>
            <a:pPr>
              <a:spcAft>
                <a:spcPts val="1000"/>
              </a:spcAft>
              <a:defRPr sz="2000"/>
            </a:pPr>
            <a:r>
              <a:t>Validate offline, then validate online with real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