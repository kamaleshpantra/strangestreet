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0" y="1463040"/>
            <a:ext cx="36576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60A5FA"/>
                </a:solidFill>
                <a:latin typeface="Segoe UI Semibold"/>
              </a:defRPr>
            </a:pPr>
            <a:r>
              <a:rPr dirty="0"/>
              <a:t>S</a:t>
            </a:r>
            <a:r>
              <a:rPr lang="en-IN" dirty="0" err="1"/>
              <a:t>ocial</a:t>
            </a:r>
            <a:r>
              <a:rPr lang="en-IN" dirty="0"/>
              <a:t> Media Application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1F5F9"/>
                </a:solidFill>
                <a:latin typeface="Segoe UI Light"/>
              </a:defRPr>
            </a:pPr>
            <a:r>
              <a:rPr dirty="0"/>
              <a:t>ML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How machine learning powers personalized feeds, stranger discovery, and content safety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CDAC3-46FA-4A3D-8FF3-7AC394DCCC09}"/>
              </a:ext>
            </a:extLst>
          </p:cNvPr>
          <p:cNvSpPr txBox="1"/>
          <p:nvPr/>
        </p:nvSpPr>
        <p:spPr>
          <a:xfrm>
            <a:off x="7969567" y="5206662"/>
            <a:ext cx="5046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1F5F9"/>
                </a:solidFill>
                <a:latin typeface="Segoe UI Light"/>
              </a:defRPr>
            </a:pPr>
            <a:r>
              <a:rPr lang="en-US" sz="1400" dirty="0"/>
              <a:t>Kamalesh Pantra -22PD15</a:t>
            </a:r>
          </a:p>
          <a:p>
            <a:pPr algn="l">
              <a:defRPr sz="3600" b="0">
                <a:solidFill>
                  <a:srgbClr val="F1F5F9"/>
                </a:solidFill>
                <a:latin typeface="Segoe UI Light"/>
              </a:defRPr>
            </a:pPr>
            <a:r>
              <a:rPr lang="en-US" sz="1400" dirty="0" err="1"/>
              <a:t>Dushyanth</a:t>
            </a:r>
            <a:r>
              <a:rPr lang="en-US" sz="1400" dirty="0"/>
              <a:t> S -22PD30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2/10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1F5F9"/>
                </a:solidFill>
                <a:latin typeface="Segoe UI"/>
              </a:defRPr>
            </a:pPr>
            <a:r>
              <a:t>What Does the Pipeline 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Graph</a:t>
            </a:r>
            <a:br/>
            <a: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60320" y="2212848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Feature</a:t>
            </a:r>
            <a:br/>
            <a:r>
              <a:t>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60520" y="2212848"/>
            <a:ext cx="411480" cy="4114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05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Feed</a:t>
            </a:r>
            <a:br/>
            <a:r>
              <a:t>Recommender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60720" y="2212848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607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People</a:t>
            </a:r>
            <a:br/>
            <a:r>
              <a:t>Recommender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60920" y="2212848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Zone</a:t>
            </a:r>
            <a:br/>
            <a:r>
              <a:t>Recommender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61120" y="2212848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Safety</a:t>
            </a:r>
            <a:br/>
            <a:r>
              <a:t>Module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514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Segoe UI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103120"/>
            <a:ext cx="1417320" cy="12801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61320" y="2212848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561320" y="22311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0F1A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69748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Evaluation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02336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" y="4023360"/>
            <a:ext cx="54864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Segoe UI"/>
              </a:defRPr>
            </a:pPr>
            <a:r>
              <a:t>📱  Personalized Feed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617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Each user sees posts ranked by</a:t>
            </a:r>
            <a:br/>
            <a:r>
              <a:t>how likely they are to engage</a:t>
            </a:r>
            <a:br/>
            <a:r>
              <a:t>with them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402336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4023360"/>
            <a:ext cx="54864" cy="20116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2628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Segoe UI"/>
              </a:defRPr>
            </a:pPr>
            <a:r>
              <a:rPr dirty="0"/>
              <a:t>👤  </a:t>
            </a:r>
            <a:r>
              <a:rPr lang="en-US" dirty="0"/>
              <a:t>Friends</a:t>
            </a:r>
            <a:r>
              <a:rPr dirty="0"/>
              <a:t> Discovery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4617720"/>
            <a:ext cx="31089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Recommends </a:t>
            </a:r>
            <a:r>
              <a:rPr lang="en-US" dirty="0"/>
              <a:t>people</a:t>
            </a:r>
            <a:r>
              <a:rPr dirty="0"/>
              <a:t> based on</a:t>
            </a:r>
            <a:br>
              <a:rPr dirty="0"/>
            </a:br>
            <a:r>
              <a:rPr dirty="0"/>
              <a:t>shared interests, graph proximity</a:t>
            </a:r>
            <a:br>
              <a:rPr dirty="0"/>
            </a:br>
            <a:r>
              <a:rPr dirty="0"/>
              <a:t>and content similarity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4023360"/>
            <a:ext cx="3474720" cy="201168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46720" y="4023360"/>
            <a:ext cx="54864" cy="20116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7171"/>
                </a:solidFill>
                <a:latin typeface="Segoe UI"/>
              </a:defRPr>
            </a:pPr>
            <a:r>
              <a:t>🛡️  Content Safety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6177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Automatically flags toxic posts</a:t>
            </a:r>
            <a:br/>
            <a:r>
              <a:t>and enforces diversity in feeds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3/10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A5FA"/>
                </a:solidFill>
                <a:latin typeface="Segoe UI"/>
              </a:defRPr>
            </a:pPr>
            <a:r>
              <a:t>Step 1 — Graph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Analyzing the social network structure using graph theory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06040" cy="40233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0604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0A5FA"/>
                </a:solidFill>
                <a:latin typeface="Segoe UI"/>
              </a:defRPr>
            </a:pPr>
            <a:r>
              <a:t>PageRank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Google's algorithm adapted for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Measures influence based on</a:t>
            </a:r>
            <a:br/>
            <a:r>
              <a:t>who follows whom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Users followed by influential</a:t>
            </a:r>
            <a:br>
              <a:rPr dirty="0"/>
            </a:br>
            <a:r>
              <a:rPr dirty="0"/>
              <a:t>people score higher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74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NetworkX</a:t>
            </a:r>
            <a:br/>
            <a:r>
              <a:t>nx.pagerank()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554480"/>
            <a:ext cx="2606040" cy="40233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260604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Louvain Communities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66021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Automatically discovers groups</a:t>
            </a:r>
            <a:br>
              <a:rPr dirty="0"/>
            </a:br>
            <a:r>
              <a:rPr dirty="0"/>
              <a:t>of tightly-connected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20401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Maximizes modularity — internal</a:t>
            </a:r>
            <a:br>
              <a:rPr dirty="0"/>
            </a:br>
            <a:r>
              <a:rPr dirty="0"/>
              <a:t>connections vs 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09072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No need to specify number</a:t>
            </a:r>
            <a:br>
              <a:rPr dirty="0"/>
            </a:br>
            <a:r>
              <a:rPr dirty="0"/>
              <a:t>of communities upfront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074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python-louvain</a:t>
            </a:r>
            <a:br/>
            <a:r>
              <a:t>best_partition()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554480"/>
            <a:ext cx="2606040" cy="40233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1554480"/>
            <a:ext cx="260604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6916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4D399"/>
                </a:solidFill>
                <a:latin typeface="Segoe UI"/>
              </a:defRPr>
            </a:pPr>
            <a:r>
              <a:t>Friend-of-Friend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Finds people 2 hops away</a:t>
            </a:r>
            <a:br>
              <a:rPr dirty="0"/>
            </a:br>
            <a:r>
              <a:rPr dirty="0"/>
              <a:t>in the social 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8072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"You might know them through</a:t>
            </a:r>
            <a:br>
              <a:rPr dirty="0"/>
            </a:br>
            <a:r>
              <a:rPr dirty="0"/>
              <a:t>a mutual connection"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721608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Capped at 50 </a:t>
            </a:r>
            <a:r>
              <a:rPr dirty="0" err="1"/>
              <a:t>FoF</a:t>
            </a:r>
            <a:r>
              <a:rPr dirty="0"/>
              <a:t> per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074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NetworkX</a:t>
            </a:r>
            <a:br/>
            <a:r>
              <a:t>DiGraph traversal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23960" y="1554480"/>
            <a:ext cx="2606040" cy="40233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23960" y="1554480"/>
            <a:ext cx="260604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06840" y="16916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B923C"/>
                </a:solidFill>
                <a:latin typeface="Segoe UI"/>
              </a:defRPr>
            </a:pPr>
            <a:r>
              <a:t>Label Propagation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7015" y="2402586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Infers interests for users with</a:t>
            </a:r>
            <a:br>
              <a:rPr dirty="0"/>
            </a:br>
            <a:r>
              <a:rPr dirty="0"/>
              <a:t>sparse profiles (&lt; 3 interests)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7015" y="29489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Looks at what neighbors like</a:t>
            </a:r>
            <a:br>
              <a:rPr dirty="0"/>
            </a:br>
            <a:r>
              <a:rPr dirty="0"/>
              <a:t>and suggests the most common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785616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Fills gaps so recommendations</a:t>
            </a:r>
            <a:br>
              <a:rPr dirty="0"/>
            </a:br>
            <a:r>
              <a:rPr dirty="0"/>
              <a:t>work for everyone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50749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Custom</a:t>
            </a:r>
            <a:br/>
            <a:r>
              <a:t>neighbor counting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Output  ▸  Per-user features: pagerank score, community ID, degree, FoF set, inferred interests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4/10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78BFA"/>
                </a:solidFill>
                <a:latin typeface="Segoe UI"/>
              </a:defRPr>
            </a:pPr>
            <a:r>
              <a:t>Step 2 — Feature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Converting raw data into numerical vectors that algorithms can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42062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  <a:latin typeface="Segoe UI"/>
              </a:defRPr>
            </a:pPr>
            <a:r>
              <a:t>Text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645920" cy="27432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1A"/>
                </a:solidFill>
                <a:latin typeface="Segoe UI"/>
              </a:defRPr>
            </a:pPr>
            <a:r>
              <a:t>Sentence-BERT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Model: all-MiniLM-L6-v2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54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Input: post text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Output: 384-dimensional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Similar posts → similar vectors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74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 profile = average of their</a:t>
            </a:r>
            <a:br/>
            <a:r>
              <a:t>post vectors (centroid)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554480"/>
            <a:ext cx="3474720" cy="42062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Interest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057400"/>
            <a:ext cx="1645920" cy="27432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1A"/>
                </a:solidFill>
                <a:latin typeface="Segoe UI"/>
              </a:defRPr>
            </a:pPr>
            <a:r>
              <a:t>Truncated SVD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14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Input: user × interest binary matrix</a:t>
            </a:r>
            <a:br/>
            <a:r>
              <a:t>(300+ interests, mostly zeros)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54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SVD compresses to 50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Captures hidden patterns:</a:t>
            </a:r>
            <a:br/>
            <a:r>
              <a:t>users who like Python + ML</a:t>
            </a:r>
            <a:br/>
            <a:r>
              <a:t>are close in this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Explained variance tracks</a:t>
            </a:r>
            <a:br/>
            <a:r>
              <a:t>information preserved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554480"/>
            <a:ext cx="3474720" cy="42062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1691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Behavioral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057400"/>
            <a:ext cx="1645920" cy="27432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2440" y="2057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0F1A"/>
                </a:solidFill>
                <a:latin typeface="Segoe UI"/>
              </a:defRPr>
            </a:pPr>
            <a:r>
              <a:t>Statistical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5146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Engagement Rate:</a:t>
            </a:r>
            <a:br/>
            <a:r>
              <a:t>(likes + comments) / total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154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Activity Level:</a:t>
            </a:r>
            <a:br/>
            <a:r>
              <a:t>actions in last 30 days /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794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Quantifies how active and</a:t>
            </a:r>
            <a:br/>
            <a:r>
              <a:t>interactive each user 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Used for quality weighting</a:t>
            </a:r>
            <a:br/>
            <a:r>
              <a:t>in feed re-ranking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Output  ▸  UserFeature table (pagerank, embeddings, engagement) + PostFeature table (topic vectors, toxicity)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5/10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4D399"/>
                </a:solidFill>
                <a:latin typeface="Segoe UI"/>
              </a:defRPr>
            </a:pPr>
            <a:r>
              <a:t>Step 3 — Feed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Collaborative filtering — "users who liked similar posts will like similar future posts"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Build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 × Post interaction matrix</a:t>
            </a:r>
            <a:br/>
            <a:r>
              <a:t>Weights: view=0.1, like=1.0</a:t>
            </a:r>
            <a:br/>
            <a:r>
              <a:t>comment=2.0, share=3.0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4592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755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SVD Factorize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402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Decompose into user_factors</a:t>
            </a:r>
            <a:br/>
            <a:r>
              <a:t>× post_factors (50 latent dims)</a:t>
            </a:r>
            <a:br/>
            <a:r>
              <a:t>Discovers hidden preferences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64592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55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Recency Boost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402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Exponential decay: e^(-age/30)</a:t>
            </a:r>
            <a:br/>
            <a:r>
              <a:t>Fresh posts ≈ 1.0 boost</a:t>
            </a:r>
            <a:br/>
            <a:r>
              <a:t>30-day posts ≈ 0.37 boost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645920"/>
            <a:ext cx="2468880" cy="23774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7556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1F5F9"/>
                </a:solidFill>
                <a:latin typeface="Segoe UI"/>
              </a:defRPr>
            </a:pPr>
            <a:r>
              <a:t>Re-Rank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24028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Blend with topic similarity</a:t>
            </a:r>
            <a:br/>
            <a:r>
              <a:t>and PageRank features</a:t>
            </a:r>
            <a:br/>
            <a:r>
              <a:t>80% SVD + 20%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45720" cy="1645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Segoe UI"/>
              </a:defRPr>
            </a:pPr>
            <a:r>
              <a:t>Author Diversity 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Max 3 posts per author in any</a:t>
            </a:r>
            <a:br/>
            <a:r>
              <a:t>user's feed — prevents domination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38912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80" y="4389120"/>
            <a:ext cx="45720" cy="16459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  <a:latin typeface="Segoe UI"/>
              </a:defRPr>
            </a:pPr>
            <a:r>
              <a:t>Cold Start 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New users with no history get</a:t>
            </a:r>
            <a:br/>
            <a:r>
              <a:t>popularity-ranked posts (most liked)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38912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4389120"/>
            <a:ext cx="45720" cy="1645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Segoe UI"/>
              </a:defRPr>
            </a:pPr>
            <a:r>
              <a:t>Final Formula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score = 0.7 × SVD + 0.3 × recency</a:t>
            </a:r>
            <a:br/>
            <a:r>
              <a:t>then re-ranked with topic + PageRank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6/10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B923C"/>
                </a:solidFill>
                <a:latin typeface="Segoe UI"/>
              </a:defRPr>
            </a:pPr>
            <a:r>
              <a:t>Step 4 — People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5-signal scoring system to recommend the best strangers to connect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Interest Jaccard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783080"/>
            <a:ext cx="6400800" cy="3200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6400800" cy="320040"/>
          </a:xfrm>
          <a:prstGeom prst="roundRect">
            <a:avLst>
              <a:gd name="adj" fmla="val 4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38360" y="17556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214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|A ∩ B| / |A ∪ B|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Friend-of-Friend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651760"/>
            <a:ext cx="6400800" cy="3200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0" y="2651760"/>
            <a:ext cx="5334000" cy="32004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71560" y="26243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900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Is target in your FoF set?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Topic 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520440"/>
            <a:ext cx="6400800" cy="3200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00400" y="3520440"/>
            <a:ext cx="4267200" cy="32004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4760" y="34930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587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Cosine similarity of BERT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Same Community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4389120"/>
            <a:ext cx="6400800" cy="3200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0" y="4389120"/>
            <a:ext cx="3200400" cy="32004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43616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7274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Both in same Louvain cluster?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F5F9"/>
                </a:solidFill>
                <a:latin typeface="Segoe UI"/>
              </a:defRPr>
            </a:pPr>
            <a:r>
              <a:t>PageRank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5257800"/>
            <a:ext cx="6400800" cy="32004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0400" y="5257800"/>
            <a:ext cx="2133600" cy="320040"/>
          </a:xfrm>
          <a:prstGeom prst="roundRect">
            <a:avLst>
              <a:gd name="adj" fmla="val 4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71160" y="52303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Segoe UI"/>
              </a:defRPr>
            </a:pPr>
            <a:r>
              <a:t>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5961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Target's influence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Example  ▸  score = 0.25×1.0 + 0.10×0.45 + 0.15×1.0 + 0.30×0.50 + 0.20×0.68 = 0.731  →  strong match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7/10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472B6"/>
                </a:solidFill>
                <a:latin typeface="Segoe UI"/>
              </a:defRPr>
            </a:pPr>
            <a:r>
              <a:t>Step 5 — Zone Recommender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Recommends communities (Zones) you haven't joined but would enjoy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0" y="1737360"/>
            <a:ext cx="594360" cy="27432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17373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Semantic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BERT cosine similarity between your</a:t>
            </a:r>
            <a:br/>
            <a:r>
              <a:t>topic profile and the zone's average</a:t>
            </a:r>
            <a:br/>
            <a:r>
              <a:t>member topic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3720" y="1737360"/>
            <a:ext cx="594360" cy="274320"/>
          </a:xfrm>
          <a:prstGeom prst="roundRect">
            <a:avLst>
              <a:gd name="adj" fmla="val 4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7373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55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Segoe UI"/>
              </a:defRPr>
            </a:pPr>
            <a:r>
              <a:t>Binary 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48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Jaccard overlap between your interests</a:t>
            </a:r>
            <a:br/>
            <a:r>
              <a:t>and the zone members' aggregated</a:t>
            </a:r>
            <a:br/>
            <a:r>
              <a:t>interest 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07040" y="1737360"/>
            <a:ext cx="594360" cy="27432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07040" y="17373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55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Segoe UI"/>
              </a:defRPr>
            </a:pPr>
            <a:r>
              <a:t>Activity Level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148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Zone's post count relative to the</a:t>
            </a:r>
            <a:br/>
            <a:r>
              <a:t>most active zone on the platform</a:t>
            </a:r>
            <a:br/>
            <a:r>
              <a:t>Prefers active communities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7490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0" y="3840480"/>
            <a:ext cx="594360" cy="27432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38404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858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Segoe UI"/>
              </a:defRPr>
            </a:pPr>
            <a:r>
              <a:t>Member Overlap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251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How many people you follow are</a:t>
            </a:r>
            <a:br/>
            <a:r>
              <a:t>already in this zone?</a:t>
            </a:r>
            <a:br/>
            <a:r>
              <a:t>Max score at 3+ friends in zone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74904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732520" y="3840480"/>
            <a:ext cx="594360" cy="274320"/>
          </a:xfrm>
          <a:prstGeom prst="roundRect">
            <a:avLst>
              <a:gd name="adj" fmla="val 4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2520" y="38404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0F1A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858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472B6"/>
                </a:solidFill>
                <a:latin typeface="Segoe UI"/>
              </a:defRPr>
            </a:pPr>
            <a:r>
              <a:t>Community Match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251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What fraction of zone members</a:t>
            </a:r>
            <a:br/>
            <a:r>
              <a:t>are in your Louvain community?</a:t>
            </a:r>
            <a:br/>
            <a:r>
              <a:t>Higher = better cultural 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Output  ▸  Top 10 zone recommendations per user stored in ZoneScore 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8/10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7171"/>
                </a:solidFill>
                <a:latin typeface="Segoe UI"/>
              </a:defRPr>
            </a:pPr>
            <a:r>
              <a:t>Step 6 — Safety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Protecting users from harmful content before it reaches their feeds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Segoe UI"/>
              </a:defRPr>
            </a:pPr>
            <a:r>
              <a:t>Toxicity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Regex pattern matching against known harmful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2905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Toxic: threats, hate speech, slurs, targeted insults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2947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Spam: promotions, repeated characters, multi-URL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9415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Score = pattern hits / threshold — range 0.0 to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3705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If score ≥ 0.3 → post is auto-flagged and hidden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2567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</a:t>
            </a:r>
            <a:r>
              <a:rPr dirty="0" err="1"/>
              <a:t>ContentFlag</a:t>
            </a:r>
            <a:r>
              <a:rPr dirty="0"/>
              <a:t> record created for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dirty="0"/>
              <a:t>→  Future: upgrade to Jigsaw trained classifier (v2)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530352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  <a:latin typeface="Segoe UI"/>
              </a:defRPr>
            </a:pPr>
            <a:r>
              <a:t>Feed Diversity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 Max 3 posts per author in any user's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87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 Prevents popular authors from dominating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9352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 Sorted by score — keeps the BEST 3, drops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826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 Runs after all scoring is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630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 Ensures variety and fair exposure for all creators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→  Applies to both SVD-scored and fallback feeds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9436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Scoring  ▸  toxicity = min( hits / (total_patterns × 0.3),  1.0 )    |    threshold for auto-flag = 0.3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9/10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A5FA"/>
                </a:solidFill>
                <a:latin typeface="Segoe UI"/>
              </a:defRPr>
            </a:pPr>
            <a:r>
              <a:t>Step 7 —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Measuring pipeline quality — "Is our ML actually helping users?"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Segoe UI"/>
              </a:defRPr>
            </a:pPr>
            <a:r>
              <a:t>Precision@K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Of the top-K recommended posts,</a:t>
            </a:r>
            <a:br/>
            <a:r>
              <a:t>how many did the user actually</a:t>
            </a:r>
            <a:br/>
            <a:r>
              <a:t>like or comment 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3108960" cy="365760"/>
          </a:xfrm>
          <a:prstGeom prst="roundRect">
            <a:avLst>
              <a:gd name="adj" fmla="val 4000"/>
            </a:avLst>
          </a:prstGeom>
          <a:solidFill>
            <a:srgbClr val="12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Segoe UI"/>
              </a:defRPr>
            </a:pPr>
            <a:r>
              <a:t>hits in top K /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Target: 0.3 – 0.7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645920"/>
            <a:ext cx="347472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Segoe UI"/>
              </a:defRPr>
            </a:pPr>
            <a:r>
              <a:t>Catalog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What fraction of ALL posts appear</a:t>
            </a:r>
            <a:br/>
            <a:r>
              <a:t>in at least one user's feed?</a:t>
            </a:r>
            <a:br/>
            <a:r>
              <a:t>Higher = fairer for small creators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66160"/>
            <a:ext cx="3108960" cy="365760"/>
          </a:xfrm>
          <a:prstGeom prst="roundRect">
            <a:avLst>
              <a:gd name="adj" fmla="val 4000"/>
            </a:avLst>
          </a:prstGeom>
          <a:solidFill>
            <a:srgbClr val="12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3611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A5FA"/>
                </a:solidFill>
                <a:latin typeface="Segoe UI"/>
              </a:defRPr>
            </a:pPr>
            <a:r>
              <a:t>unique recommended / total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Target: 60% – 90%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64592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80" y="1645920"/>
            <a:ext cx="34747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Segoe UI"/>
              </a:defRPr>
            </a:pPr>
            <a:r>
              <a:t>Feed Diversity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Average number of distinct post</a:t>
            </a:r>
            <a:br/>
            <a:r>
              <a:t>categories per user's feed</a:t>
            </a:r>
            <a:br/>
            <a:r>
              <a:t>Higher = less filter bubble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566160"/>
            <a:ext cx="3108960" cy="365760"/>
          </a:xfrm>
          <a:prstGeom prst="roundRect">
            <a:avLst>
              <a:gd name="adj" fmla="val 4000"/>
            </a:avLst>
          </a:prstGeom>
          <a:solidFill>
            <a:srgbClr val="12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3611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avg unique categories per feed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F5F9"/>
                </a:solidFill>
                <a:latin typeface="Segoe UI"/>
              </a:defRPr>
            </a:pPr>
            <a:r>
              <a:t>Target: 3 – 6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10/10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1F5F9"/>
                </a:solidFill>
                <a:latin typeface="Segoe UI"/>
              </a:defRPr>
            </a:pPr>
            <a:r>
              <a:rPr dirty="0"/>
              <a:t>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94560" cy="41148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0F1A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188720"/>
            <a:ext cx="2377440" cy="41148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234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0F1A"/>
                </a:solidFill>
                <a:latin typeface="Segoe UI"/>
              </a:defRPr>
            </a:pPr>
            <a:r>
              <a:t>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4114800" cy="41148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0F1A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PageRank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645920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1691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NetworkX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1691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 influence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29968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075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rPr dirty="0"/>
              <a:t>Louvain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2029968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20756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python-louvain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029968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20756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Community clustering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414016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459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Sentence-BERT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2414016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4597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sentence-transformers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2414016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60" y="2459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Semantic text embeddings (384d)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98064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8437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Truncated SVD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2798064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88920" y="28437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scikit-learn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798064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66360" y="284378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Matrix factorization + dim reduction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182112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32278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Jaccard Similarity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3182112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88920" y="3227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Custom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3182112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66360" y="3227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Interest set overlap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566160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611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Cosine Similarity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3566160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88920" y="3611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NumPy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0" y="3566160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6360" y="3611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Vector similarity (topics, search)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950208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39959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Exponential Decay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51760" y="3950208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3995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t>NumPy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3950208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60" y="39959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Recency boost for fresh content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334256"/>
            <a:ext cx="219456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43799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Segoe UI"/>
              </a:defRPr>
            </a:pPr>
            <a:r>
              <a:t>Regex Matching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51760" y="4334256"/>
            <a:ext cx="237744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88920" y="43799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  <a:latin typeface="Segoe UI"/>
              </a:defRPr>
            </a:pPr>
            <a:r>
              <a:rPr dirty="0"/>
              <a:t>Python 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0" y="4334256"/>
            <a:ext cx="4114800" cy="365760"/>
          </a:xfrm>
          <a:prstGeom prst="roundRect">
            <a:avLst>
              <a:gd name="adj" fmla="val 4000"/>
            </a:avLst>
          </a:prstGeom>
          <a:solidFill>
            <a:srgbClr val="14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166360" y="43799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Toxicity &amp; spam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1169</Words>
  <Application>Microsoft Office PowerPoint</Application>
  <PresentationFormat>Widescreen</PresentationFormat>
  <Paragraphs>205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Kamalesh Pantra</cp:lastModifiedBy>
  <cp:revision>8</cp:revision>
  <dcterms:created xsi:type="dcterms:W3CDTF">2013-01-27T09:14:16Z</dcterms:created>
  <dcterms:modified xsi:type="dcterms:W3CDTF">2026-04-06T03:13:02Z</dcterms:modified>
  <cp:category/>
</cp:coreProperties>
</file>